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CDD03E-F7FF-4B0F-8E73-E973BABD0288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7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DF8"/>
    <a:srgbClr val="1E3A8A"/>
    <a:srgbClr val="10B981"/>
    <a:srgbClr val="FACC15"/>
    <a:srgbClr val="66CCFF"/>
    <a:srgbClr val="E6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lind5" TargetMode="External"/><Relationship Id="rId2" Type="http://schemas.openxmlformats.org/officeDocument/2006/relationships/hyperlink" Target="https://www.linkedin.com/in/milind-bagad-82786a224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0B86-9001-D883-7666-AA71645CE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154" y="4066740"/>
            <a:ext cx="9719691" cy="16886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Grocery Store Analysis </a:t>
            </a:r>
            <a:br>
              <a:rPr lang="en-US" sz="6000" b="1" dirty="0"/>
            </a:br>
            <a:r>
              <a:rPr lang="en-US" sz="6000" b="1" dirty="0"/>
              <a:t>Using SQL</a:t>
            </a:r>
            <a:endParaRPr lang="en-IN" sz="6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A238B-8C84-7840-C4BF-8EA77C1F6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924" y="529775"/>
            <a:ext cx="8074152" cy="3291947"/>
          </a:xfrm>
          <a:prstGeom prst="rect">
            <a:avLst/>
          </a:prstGeom>
          <a:effectLst>
            <a:glow rad="101600">
              <a:schemeClr val="accent1">
                <a:alpha val="3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75921-EA93-6A4E-86B4-339775E59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242" y="6089938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12B2A2-FE59-4514-97FA-E126F5513993}"/>
              </a:ext>
            </a:extLst>
          </p:cNvPr>
          <p:cNvSpPr txBox="1"/>
          <p:nvPr/>
        </p:nvSpPr>
        <p:spPr>
          <a:xfrm>
            <a:off x="288698" y="6328225"/>
            <a:ext cx="3194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Presented By:- Milind Bagad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05690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592A-2A2F-ACBA-F494-F8C4BED4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1801368"/>
            <a:ext cx="10942320" cy="4539107"/>
          </a:xfrm>
        </p:spPr>
        <p:txBody>
          <a:bodyPr>
            <a:normAutofit fontScale="90000"/>
          </a:bodyPr>
          <a:lstStyle/>
          <a:p>
            <a:r>
              <a:rPr lang="en-IN" sz="2700" b="1" dirty="0">
                <a:solidFill>
                  <a:srgbClr val="E6E6E6"/>
                </a:solidFill>
              </a:rPr>
              <a:t>Hii, I am Milind Suresh Bagad.</a:t>
            </a:r>
            <a:br>
              <a:rPr lang="en-IN" sz="2700" b="1" dirty="0">
                <a:solidFill>
                  <a:srgbClr val="E6E6E6"/>
                </a:solidFill>
              </a:rPr>
            </a:br>
            <a:br>
              <a:rPr lang="en-IN" sz="2700" b="1" dirty="0">
                <a:solidFill>
                  <a:srgbClr val="E6E6E6"/>
                </a:solidFill>
              </a:rPr>
            </a:br>
            <a:r>
              <a:rPr lang="en-IN" sz="2700" b="1" dirty="0">
                <a:solidFill>
                  <a:srgbClr val="E6E6E6"/>
                </a:solidFill>
              </a:rPr>
              <a:t>I completed my bachelors degree in computer Application (BCA).</a:t>
            </a:r>
            <a:br>
              <a:rPr lang="en-IN" sz="2700" b="1" dirty="0">
                <a:solidFill>
                  <a:srgbClr val="E6E6E6"/>
                </a:solidFill>
              </a:rPr>
            </a:br>
            <a:br>
              <a:rPr lang="en-IN" sz="2700" b="1" dirty="0">
                <a:solidFill>
                  <a:srgbClr val="E6E6E6"/>
                </a:solidFill>
              </a:rPr>
            </a:br>
            <a:r>
              <a:rPr lang="en-US" sz="2700" b="1" dirty="0">
                <a:solidFill>
                  <a:srgbClr val="E6E6E6"/>
                </a:solidFill>
              </a:rPr>
              <a:t>I’m interested in Data Science because I love working with data, finding patterns, and solving real problems. I enjoy learning new things, improving my skills, and working on projects that make a difference.</a:t>
            </a: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r>
              <a:rPr lang="en-US" sz="2200" b="1" dirty="0" err="1">
                <a:solidFill>
                  <a:srgbClr val="E6E6E6"/>
                </a:solidFill>
              </a:rPr>
              <a:t>Linkedin</a:t>
            </a:r>
            <a:r>
              <a:rPr lang="en-US" sz="2200" b="1" dirty="0">
                <a:solidFill>
                  <a:srgbClr val="E6E6E6"/>
                </a:solidFill>
              </a:rPr>
              <a:t> : </a:t>
            </a:r>
            <a:r>
              <a:rPr lang="en-US" sz="2200" b="1" dirty="0">
                <a:hlinkClick r:id="rId2"/>
              </a:rPr>
              <a:t>https://www.linkedin.com/in/milind-bagad-82786a224</a:t>
            </a:r>
            <a:br>
              <a:rPr lang="en-US" sz="2400" b="1" dirty="0"/>
            </a:br>
            <a:r>
              <a:rPr lang="en-US" sz="2400" b="1" dirty="0"/>
              <a:t> </a:t>
            </a:r>
            <a:br>
              <a:rPr lang="en-US" sz="2400" b="1" dirty="0"/>
            </a:br>
            <a:r>
              <a:rPr lang="en-US" sz="2200" b="1" dirty="0">
                <a:solidFill>
                  <a:srgbClr val="E6E6E6"/>
                </a:solidFill>
              </a:rPr>
              <a:t>GitHub : </a:t>
            </a:r>
            <a:r>
              <a:rPr lang="en-US" sz="2200" b="1" dirty="0">
                <a:hlinkClick r:id="rId3"/>
              </a:rPr>
              <a:t>https://github.com/Milind5</a:t>
            </a:r>
            <a:br>
              <a:rPr lang="en-US" sz="2400" b="1" dirty="0"/>
            </a:br>
            <a:br>
              <a:rPr lang="en-US" sz="2400" b="1" dirty="0"/>
            </a:br>
            <a:endParaRPr lang="en-IN" sz="24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C59BC3-2887-EAA3-81EC-E15F3934983F}"/>
              </a:ext>
            </a:extLst>
          </p:cNvPr>
          <p:cNvSpPr txBox="1">
            <a:spLocks/>
          </p:cNvSpPr>
          <p:nvPr/>
        </p:nvSpPr>
        <p:spPr>
          <a:xfrm>
            <a:off x="442912" y="313914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About 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A15BAB-F8B7-36BE-BA3E-8768C3CAB7C7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8B6D343-AD34-6D2B-E4BA-A98A6211E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2342" y="6196561"/>
            <a:ext cx="2309060" cy="51820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389721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2C369-A3C3-5EE6-684A-787A068E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66867"/>
            <a:ext cx="10801350" cy="675548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rgbClr val="FFFFFF"/>
                </a:solidFill>
              </a:rPr>
              <a:t>Objective of Project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E0AA41-0078-9B8F-E276-693C61EE7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165EF1-EC8A-2F33-D5F1-0D536060348D}"/>
              </a:ext>
            </a:extLst>
          </p:cNvPr>
          <p:cNvSpPr txBox="1"/>
          <p:nvPr/>
        </p:nvSpPr>
        <p:spPr>
          <a:xfrm>
            <a:off x="442912" y="1309387"/>
            <a:ext cx="59161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400" b="1" dirty="0">
              <a:solidFill>
                <a:srgbClr val="E6E6E6"/>
              </a:solidFill>
            </a:endParaRPr>
          </a:p>
          <a:p>
            <a:pPr algn="just"/>
            <a:endParaRPr lang="en-US" sz="2400" b="1" dirty="0">
              <a:solidFill>
                <a:srgbClr val="E6E6E6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This project analyzes grocery sales data to understand customer demand across different areas and festive seasons. </a:t>
            </a:r>
          </a:p>
          <a:p>
            <a:pPr marL="342900" indent="-342900" algn="just">
              <a:buFontTx/>
              <a:buChar char="-"/>
            </a:pPr>
            <a:endParaRPr lang="en-US" sz="2400" b="1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-  It helps retailers and wholesalers make                 smarter decisions for managing stock, planning offers, and improving overall sales and profits.</a:t>
            </a:r>
            <a:endParaRPr lang="en-IN" sz="2400" b="1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A84047-4B7F-8B48-4DC5-AF0A7B805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867" y="2167130"/>
            <a:ext cx="4548508" cy="342836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F82FA1-21AD-D966-EB6B-0DB1A9732928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79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13C8-01BC-D10D-17A5-43DD11815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4" y="383414"/>
            <a:ext cx="10546080" cy="622426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rgbClr val="FFFFFF"/>
                </a:solidFill>
              </a:rPr>
              <a:t>Entity Relationship Diagram (ERD)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FB525B-0D23-ABF8-8E67-FC68511F19F9}"/>
              </a:ext>
            </a:extLst>
          </p:cNvPr>
          <p:cNvCxnSpPr>
            <a:cxnSpLocks/>
          </p:cNvCxnSpPr>
          <p:nvPr/>
        </p:nvCxnSpPr>
        <p:spPr>
          <a:xfrm flipH="1">
            <a:off x="359664" y="1207643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56E7F31-C365-6F99-45EE-764687C46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74" y="1708715"/>
            <a:ext cx="10032275" cy="4888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8171AA-8E7B-A0A5-8DB0-F8D80AD5C467}"/>
              </a:ext>
            </a:extLst>
          </p:cNvPr>
          <p:cNvSpPr txBox="1"/>
          <p:nvPr/>
        </p:nvSpPr>
        <p:spPr>
          <a:xfrm>
            <a:off x="249593" y="1308604"/>
            <a:ext cx="116562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Entity Relationship Diagram showing connections between Orders, Customers, Products, and Suppliers.</a:t>
            </a:r>
            <a:endParaRPr lang="en-IN" sz="20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2854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C4E1-44EB-B4EB-CE81-E3BC4616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44" y="219139"/>
            <a:ext cx="10515600" cy="668147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76CB-BDCA-0E44-4F15-FF0B0E26BF0E}"/>
              </a:ext>
            </a:extLst>
          </p:cNvPr>
          <p:cNvSpPr txBox="1"/>
          <p:nvPr/>
        </p:nvSpPr>
        <p:spPr>
          <a:xfrm>
            <a:off x="390144" y="1036116"/>
            <a:ext cx="1036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solidFill>
                  <a:srgbClr val="66CCFF"/>
                </a:solidFill>
              </a:rPr>
              <a:t>1. How many unique customers have placed orders?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286CB8-ED84-54A9-ED53-84CEE499C6EC}"/>
              </a:ext>
            </a:extLst>
          </p:cNvPr>
          <p:cNvCxnSpPr>
            <a:cxnSpLocks/>
          </p:cNvCxnSpPr>
          <p:nvPr/>
        </p:nvCxnSpPr>
        <p:spPr>
          <a:xfrm flipH="1">
            <a:off x="390144" y="98310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FD70114-F281-F69E-01F7-5E5C98FB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97" y="1801524"/>
            <a:ext cx="5226722" cy="1847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0F4AA5-379C-6300-B3C2-F7F7BAF4F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764" y="2233443"/>
            <a:ext cx="4742214" cy="14152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235839-4CDE-3508-C5A6-214F1661957B}"/>
              </a:ext>
            </a:extLst>
          </p:cNvPr>
          <p:cNvSpPr txBox="1"/>
          <p:nvPr/>
        </p:nvSpPr>
        <p:spPr>
          <a:xfrm>
            <a:off x="6485383" y="1851562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F606D2-671B-A5F1-8C30-CD724253E2EE}"/>
              </a:ext>
            </a:extLst>
          </p:cNvPr>
          <p:cNvSpPr txBox="1"/>
          <p:nvPr/>
        </p:nvSpPr>
        <p:spPr>
          <a:xfrm>
            <a:off x="313944" y="4190830"/>
            <a:ext cx="9229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Out of 200 customers, 122 are repeat buyers, showing strong customer satisfaction and good store service.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1D798A92-39C7-312A-0F90-F91A6F2A7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50023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3A5F-6AB6-E3CF-835F-CF4A4820BA7D}"/>
              </a:ext>
            </a:extLst>
          </p:cNvPr>
          <p:cNvSpPr txBox="1">
            <a:spLocks/>
          </p:cNvSpPr>
          <p:nvPr/>
        </p:nvSpPr>
        <p:spPr>
          <a:xfrm>
            <a:off x="274637" y="224312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4C8019-CAC6-3CEB-4870-90E24781F793}"/>
              </a:ext>
            </a:extLst>
          </p:cNvPr>
          <p:cNvCxnSpPr>
            <a:cxnSpLocks/>
          </p:cNvCxnSpPr>
          <p:nvPr/>
        </p:nvCxnSpPr>
        <p:spPr>
          <a:xfrm flipH="1">
            <a:off x="389382" y="900206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4DB6FDE-CA5E-88EA-3D8F-9462AE703C26}"/>
              </a:ext>
            </a:extLst>
          </p:cNvPr>
          <p:cNvSpPr txBox="1"/>
          <p:nvPr/>
        </p:nvSpPr>
        <p:spPr>
          <a:xfrm>
            <a:off x="389382" y="972152"/>
            <a:ext cx="11021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2. How many products exist in each category?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EC576B-56BB-2980-2E80-F37E05E48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695388"/>
            <a:ext cx="3752087" cy="23936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94293A-43A5-E368-86D1-0DE353AF4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96" y="1695388"/>
            <a:ext cx="5128441" cy="23936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27B50EF-BF0B-90BD-FB5F-976F42B5C472}"/>
              </a:ext>
            </a:extLst>
          </p:cNvPr>
          <p:cNvSpPr txBox="1"/>
          <p:nvPr/>
        </p:nvSpPr>
        <p:spPr>
          <a:xfrm>
            <a:off x="6485382" y="1769092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0B687C-495A-226B-F51B-F5170D362676}"/>
              </a:ext>
            </a:extLst>
          </p:cNvPr>
          <p:cNvSpPr txBox="1"/>
          <p:nvPr/>
        </p:nvSpPr>
        <p:spPr>
          <a:xfrm>
            <a:off x="643382" y="4443551"/>
            <a:ext cx="68445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Most of the products belong to Grains &amp; Cereals and Snacks &amp; Confectioneries, which shows these are the most stocked or in-demand categories, while the Household section has fewer products, suggesting limited variety or lower focus.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A771A9DF-180C-00A8-4592-1C82B559F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53068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4AA12F-C5D2-75D7-C548-10A019F48C7E}"/>
              </a:ext>
            </a:extLst>
          </p:cNvPr>
          <p:cNvSpPr txBox="1">
            <a:spLocks/>
          </p:cNvSpPr>
          <p:nvPr/>
        </p:nvSpPr>
        <p:spPr>
          <a:xfrm>
            <a:off x="274637" y="216354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E45D5D-0F07-209D-F072-DE40A1D3DCFB}"/>
              </a:ext>
            </a:extLst>
          </p:cNvPr>
          <p:cNvCxnSpPr>
            <a:cxnSpLocks/>
          </p:cNvCxnSpPr>
          <p:nvPr/>
        </p:nvCxnSpPr>
        <p:spPr>
          <a:xfrm flipH="1">
            <a:off x="390144" y="912568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24D4236-84FD-53DD-5057-8B97729B3063}"/>
              </a:ext>
            </a:extLst>
          </p:cNvPr>
          <p:cNvSpPr txBox="1"/>
          <p:nvPr/>
        </p:nvSpPr>
        <p:spPr>
          <a:xfrm>
            <a:off x="390144" y="1019495"/>
            <a:ext cx="11021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3. Who are the top 5 customers by total purchase amount?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D2C7228-85C2-7022-9AE3-64E99AF7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BA495A-1900-F7E8-8A4C-04874BFBE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4" y="1813628"/>
            <a:ext cx="5751755" cy="26161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57C885-BCE8-F039-B77A-A56A0049AADF}"/>
              </a:ext>
            </a:extLst>
          </p:cNvPr>
          <p:cNvSpPr txBox="1"/>
          <p:nvPr/>
        </p:nvSpPr>
        <p:spPr>
          <a:xfrm>
            <a:off x="6475222" y="1813628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F4573D-6E95-9902-53E3-548C05DC0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952" y="1813628"/>
            <a:ext cx="3667760" cy="2359231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250BFCC0-5680-BDBB-9287-719092BBF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09" y="4698937"/>
            <a:ext cx="934389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Eshwar Iyer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is the top buyer, showing strong customer loyalty and purchasing power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The top 5 customers are key contributors to overall sales, showing a strong and consistent purchase pattern.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15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74A8-77B3-FB5B-7163-F76DEE95F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EA78175-CEF3-0BE4-2741-0BAB314D9816}"/>
              </a:ext>
            </a:extLst>
          </p:cNvPr>
          <p:cNvSpPr txBox="1">
            <a:spLocks/>
          </p:cNvSpPr>
          <p:nvPr/>
        </p:nvSpPr>
        <p:spPr>
          <a:xfrm>
            <a:off x="274637" y="198662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C0F9ED-6F73-821E-B1AF-42234E0D2125}"/>
              </a:ext>
            </a:extLst>
          </p:cNvPr>
          <p:cNvCxnSpPr>
            <a:cxnSpLocks/>
          </p:cNvCxnSpPr>
          <p:nvPr/>
        </p:nvCxnSpPr>
        <p:spPr>
          <a:xfrm flipH="1">
            <a:off x="355504" y="866809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666445D-026F-7CE6-6853-CDDB28740444}"/>
              </a:ext>
            </a:extLst>
          </p:cNvPr>
          <p:cNvSpPr txBox="1"/>
          <p:nvPr/>
        </p:nvSpPr>
        <p:spPr>
          <a:xfrm>
            <a:off x="274637" y="917022"/>
            <a:ext cx="11021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4. What is the total revenue generated by each product?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844506A-139D-D3C5-E2CD-7214D2806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A973E4-6AD9-B5CC-4884-E47CBD3CBD0D}"/>
              </a:ext>
            </a:extLst>
          </p:cNvPr>
          <p:cNvSpPr txBox="1"/>
          <p:nvPr/>
        </p:nvSpPr>
        <p:spPr>
          <a:xfrm>
            <a:off x="6485382" y="1775124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F0A20B-E269-C632-CB08-9533F0517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775124"/>
            <a:ext cx="4355247" cy="2640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B31378-8969-5D8F-6057-B1395AF93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" y="1630113"/>
            <a:ext cx="6042470" cy="2991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E8C5CC-3B9C-F8DE-EF1F-196495720D5F}"/>
              </a:ext>
            </a:extLst>
          </p:cNvPr>
          <p:cNvSpPr txBox="1"/>
          <p:nvPr/>
        </p:nvSpPr>
        <p:spPr>
          <a:xfrm>
            <a:off x="355504" y="4766484"/>
            <a:ext cx="79368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Hand Sanitizer is the highest revenue-generating product, indicating strong sales and customer demand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 </a:t>
            </a:r>
          </a:p>
          <a:p>
            <a:pPr marL="342900" indent="-342900">
              <a:buFontTx/>
              <a:buChar char="-"/>
            </a:pPr>
            <a:endParaRPr lang="en-US" sz="2400" b="1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Other top products show consistent contribution across different categories.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2742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A303-C1E5-6F69-34CC-0B06778E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1F9DC7B-A41A-C3A3-8FB5-4604DA5523AF}"/>
              </a:ext>
            </a:extLst>
          </p:cNvPr>
          <p:cNvSpPr txBox="1">
            <a:spLocks/>
          </p:cNvSpPr>
          <p:nvPr/>
        </p:nvSpPr>
        <p:spPr>
          <a:xfrm>
            <a:off x="274637" y="188952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Data Insights &amp; Findings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FF69B0-E43F-99DF-82FC-19AE38FBBC3F}"/>
              </a:ext>
            </a:extLst>
          </p:cNvPr>
          <p:cNvCxnSpPr>
            <a:cxnSpLocks/>
          </p:cNvCxnSpPr>
          <p:nvPr/>
        </p:nvCxnSpPr>
        <p:spPr>
          <a:xfrm flipH="1">
            <a:off x="390144" y="857099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DFDC48-2776-A3E4-3273-44AEC2938803}"/>
              </a:ext>
            </a:extLst>
          </p:cNvPr>
          <p:cNvSpPr txBox="1"/>
          <p:nvPr/>
        </p:nvSpPr>
        <p:spPr>
          <a:xfrm>
            <a:off x="274637" y="943974"/>
            <a:ext cx="11021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5. What are the monthly trends in order volume and revenue?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524BF4F-F607-3C4D-81E2-212EAB844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8F674E-08BB-DC97-BF22-0ED2E6CDD3C4}"/>
              </a:ext>
            </a:extLst>
          </p:cNvPr>
          <p:cNvSpPr txBox="1"/>
          <p:nvPr/>
        </p:nvSpPr>
        <p:spPr>
          <a:xfrm>
            <a:off x="6485382" y="1615623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7B23F1-81DB-B28F-3F0E-592E79B4C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6002"/>
            <a:ext cx="4218087" cy="26723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383920-07A4-AE92-E2F1-AC5A6A0AB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" y="1587840"/>
            <a:ext cx="6042470" cy="3012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B331A2-123C-4FB5-EC4D-A8B8695D0CFA}"/>
              </a:ext>
            </a:extLst>
          </p:cNvPr>
          <p:cNvSpPr txBox="1"/>
          <p:nvPr/>
        </p:nvSpPr>
        <p:spPr>
          <a:xfrm>
            <a:off x="247233" y="4730056"/>
            <a:ext cx="84211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January has the highest orders and revenue, showing peak 	sales season.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Sales remain strong in February and December, likely due to         	festive demand.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782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A0B8-59A5-309C-671E-D1A02DB8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63E586-E656-CA83-16CF-AA45CDBBF568}"/>
              </a:ext>
            </a:extLst>
          </p:cNvPr>
          <p:cNvSpPr txBox="1">
            <a:spLocks/>
          </p:cNvSpPr>
          <p:nvPr/>
        </p:nvSpPr>
        <p:spPr>
          <a:xfrm>
            <a:off x="274637" y="193547"/>
            <a:ext cx="10515600" cy="668147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rgbClr val="FFFFFF"/>
                </a:solidFill>
              </a:rPr>
              <a:t>Data</a:t>
            </a:r>
            <a:r>
              <a:rPr lang="en-IN" sz="4300" b="1" dirty="0">
                <a:solidFill>
                  <a:srgbClr val="FFFFFF"/>
                </a:solidFill>
              </a:rPr>
              <a:t> </a:t>
            </a:r>
            <a:r>
              <a:rPr lang="en-IN" sz="4400" b="1" dirty="0">
                <a:solidFill>
                  <a:srgbClr val="FFFFFF"/>
                </a:solidFill>
              </a:rPr>
              <a:t>Insights</a:t>
            </a:r>
            <a:r>
              <a:rPr lang="en-IN" sz="4300" b="1" dirty="0">
                <a:solidFill>
                  <a:srgbClr val="FFFFFF"/>
                </a:solidFill>
              </a:rPr>
              <a:t> </a:t>
            </a:r>
            <a:r>
              <a:rPr lang="en-IN" sz="4400" b="1" dirty="0">
                <a:solidFill>
                  <a:srgbClr val="FFFFFF"/>
                </a:solidFill>
              </a:rPr>
              <a:t>&amp; Findings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6C66E9-3EA1-6290-2D1F-7E64719011F3}"/>
              </a:ext>
            </a:extLst>
          </p:cNvPr>
          <p:cNvCxnSpPr>
            <a:cxnSpLocks/>
          </p:cNvCxnSpPr>
          <p:nvPr/>
        </p:nvCxnSpPr>
        <p:spPr>
          <a:xfrm flipH="1">
            <a:off x="390143" y="861694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274C0CE-048B-37F5-713E-68BC8165F29D}"/>
              </a:ext>
            </a:extLst>
          </p:cNvPr>
          <p:cNvSpPr txBox="1"/>
          <p:nvPr/>
        </p:nvSpPr>
        <p:spPr>
          <a:xfrm>
            <a:off x="390143" y="984685"/>
            <a:ext cx="113061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66CCFF"/>
                </a:solidFill>
              </a:rPr>
              <a:t>6. Which suppliers contribute the most to total product sales (by revenue)?</a:t>
            </a:r>
            <a:endParaRPr lang="en-IN" sz="3200" b="1" i="1" dirty="0">
              <a:solidFill>
                <a:srgbClr val="66CCFF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6A4B309-7973-F5DA-2191-A3623806F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66E7F6-78A6-569B-4529-779A9868BE26}"/>
              </a:ext>
            </a:extLst>
          </p:cNvPr>
          <p:cNvSpPr txBox="1"/>
          <p:nvPr/>
        </p:nvSpPr>
        <p:spPr>
          <a:xfrm>
            <a:off x="6485381" y="2061903"/>
            <a:ext cx="124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 :-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ACD26C-6219-7FFD-AE52-4A7563A8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30" y="2102896"/>
            <a:ext cx="4106937" cy="27751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D03057-B88F-424D-0FDB-8E84C4476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3" y="2061903"/>
            <a:ext cx="5876243" cy="2857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9CAA6E-E3D3-BD1B-63D8-70C725A9D12B}"/>
              </a:ext>
            </a:extLst>
          </p:cNvPr>
          <p:cNvSpPr txBox="1"/>
          <p:nvPr/>
        </p:nvSpPr>
        <p:spPr>
          <a:xfrm>
            <a:off x="390143" y="5182214"/>
            <a:ext cx="76422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Aarya is the leading supplier with the highest sales contribution, making them a key partner in overall revenue generation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  <a:endParaRPr lang="en-IN" sz="2400" b="1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9787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3F4FCE-17B7-49B2-963A-890901C6DA70}"/>
              </a:ext>
            </a:extLst>
          </p:cNvPr>
          <p:cNvSpPr txBox="1">
            <a:spLocks/>
          </p:cNvSpPr>
          <p:nvPr/>
        </p:nvSpPr>
        <p:spPr>
          <a:xfrm>
            <a:off x="320867" y="216354"/>
            <a:ext cx="10811256" cy="609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 Business insights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A0A996-54E8-4881-E8CE-5818BC46D3FF}"/>
              </a:ext>
            </a:extLst>
          </p:cNvPr>
          <p:cNvCxnSpPr>
            <a:cxnSpLocks/>
          </p:cNvCxnSpPr>
          <p:nvPr/>
        </p:nvCxnSpPr>
        <p:spPr>
          <a:xfrm flipH="1">
            <a:off x="442912" y="850283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F6550439-C801-73B2-7C30-E75E0543E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063E8-4178-B3AB-A173-A6E4295F5D00}"/>
              </a:ext>
            </a:extLst>
          </p:cNvPr>
          <p:cNvSpPr txBox="1"/>
          <p:nvPr/>
        </p:nvSpPr>
        <p:spPr>
          <a:xfrm>
            <a:off x="344209" y="1009335"/>
            <a:ext cx="11503579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🧍‍♂️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Customer Loyalty 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Out of </a:t>
            </a:r>
            <a:r>
              <a:rPr lang="en-US" sz="2800" dirty="0">
                <a:solidFill>
                  <a:srgbClr val="FACC15"/>
                </a:solidFill>
                <a:latin typeface="+mj-lt"/>
                <a:ea typeface="+mj-ea"/>
                <a:cs typeface="+mj-cs"/>
              </a:rPr>
              <a:t>200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customers, </a:t>
            </a:r>
            <a:r>
              <a:rPr lang="en-US" sz="2800" dirty="0">
                <a:solidFill>
                  <a:srgbClr val="FACC15"/>
                </a:solidFill>
                <a:latin typeface="+mj-lt"/>
                <a:ea typeface="+mj-ea"/>
                <a:cs typeface="+mj-cs"/>
              </a:rPr>
              <a:t>122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are repeat buyers, showing strong satisfaction and trust in the store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🛒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Product Focus 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Most products belong to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Grains &amp; Cereals 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and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Snacks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, indicating a focus on essential and fast-moving items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💰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Revenue Insights 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A few top customers and best-selling products contribute the most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revenue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— potential for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loyalty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programs and targeted offers.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📅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Sales Trend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Higher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sales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during festival months highlight the importance of seasonal demand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🤝 </a:t>
            </a:r>
            <a:r>
              <a:rPr lang="en-US" sz="2400" b="1" i="1" u="sng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Supplier Impact </a:t>
            </a:r>
            <a: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: -</a:t>
            </a:r>
            <a:br>
              <a:rPr lang="en-US" sz="2400" b="1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</a:b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Major revenue comes from a few key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suppliers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 — strengthening these partnerships can boost consistency and </a:t>
            </a:r>
            <a:r>
              <a:rPr lang="en-US" sz="2400" b="1" dirty="0">
                <a:solidFill>
                  <a:srgbClr val="38BDF8"/>
                </a:solidFill>
                <a:latin typeface="+mj-lt"/>
                <a:ea typeface="+mj-ea"/>
                <a:cs typeface="+mj-cs"/>
              </a:rPr>
              <a:t>profit</a:t>
            </a: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6786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96144D3-72ED-D349-4599-BF6AAD359765}"/>
              </a:ext>
            </a:extLst>
          </p:cNvPr>
          <p:cNvSpPr txBox="1">
            <a:spLocks/>
          </p:cNvSpPr>
          <p:nvPr/>
        </p:nvSpPr>
        <p:spPr>
          <a:xfrm>
            <a:off x="390144" y="365125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Conclusion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39A5BC-289F-88F3-B3ED-3381BFED27CE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7216F932-B343-9710-EA22-4E1DD9B7A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6D15F1-6877-58E2-C6A5-8539E9FDA15B}"/>
              </a:ext>
            </a:extLst>
          </p:cNvPr>
          <p:cNvSpPr txBox="1"/>
          <p:nvPr/>
        </p:nvSpPr>
        <p:spPr>
          <a:xfrm>
            <a:off x="442912" y="1506072"/>
            <a:ext cx="1046283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This project helped identify key business insights such as customer loyalty, product performance, and supplier contribution.</a:t>
            </a:r>
          </a:p>
          <a:p>
            <a:endParaRPr lang="en-US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The analysis highlights that maintaining essential product categories, focusing on high-value customers, and planning for festive demand can lead to better decision-making and profitability</a:t>
            </a:r>
            <a:r>
              <a:rPr lang="en-US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This project shows how SQL can turn raw data into real business insights that support smarter decisions.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492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0BE9-F3FD-B2EB-172E-496613CE0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AD5ECE1-AA4C-0D28-B9B0-AB69BE30256F}"/>
              </a:ext>
            </a:extLst>
          </p:cNvPr>
          <p:cNvSpPr txBox="1">
            <a:spLocks/>
          </p:cNvSpPr>
          <p:nvPr/>
        </p:nvSpPr>
        <p:spPr>
          <a:xfrm>
            <a:off x="192920" y="216354"/>
            <a:ext cx="10515600" cy="66814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FFFF"/>
                </a:solidFill>
              </a:rPr>
              <a:t> </a:t>
            </a:r>
            <a:r>
              <a:rPr lang="en-IN" sz="3600" b="1" dirty="0">
                <a:solidFill>
                  <a:srgbClr val="FFFFFF"/>
                </a:solidFill>
              </a:rPr>
              <a:t>Experience and Challenges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D6AD16-5F49-1167-82F7-10C0AB065389}"/>
              </a:ext>
            </a:extLst>
          </p:cNvPr>
          <p:cNvCxnSpPr>
            <a:cxnSpLocks/>
          </p:cNvCxnSpPr>
          <p:nvPr/>
        </p:nvCxnSpPr>
        <p:spPr>
          <a:xfrm flipH="1">
            <a:off x="353265" y="926912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81311BF-6471-69A0-C0F3-3CE8611FF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07" y="6123441"/>
            <a:ext cx="2309060" cy="51820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425D7F-DBC8-1A4A-D1D8-D49BA1A1A498}"/>
              </a:ext>
            </a:extLst>
          </p:cNvPr>
          <p:cNvSpPr txBox="1"/>
          <p:nvPr/>
        </p:nvSpPr>
        <p:spPr>
          <a:xfrm>
            <a:off x="546846" y="1155557"/>
            <a:ext cx="25549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sng" dirty="0">
                <a:solidFill>
                  <a:srgbClr val="FFFFFF"/>
                </a:solidFill>
              </a:rPr>
              <a:t>Experience : - </a:t>
            </a:r>
            <a:endParaRPr lang="en-IN" sz="2800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8ABE6-56CE-6294-B419-1A992D22D2E7}"/>
              </a:ext>
            </a:extLst>
          </p:cNvPr>
          <p:cNvSpPr txBox="1"/>
          <p:nvPr/>
        </p:nvSpPr>
        <p:spPr>
          <a:xfrm>
            <a:off x="546846" y="4023601"/>
            <a:ext cx="2382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sng" dirty="0">
                <a:solidFill>
                  <a:srgbClr val="FFFFFF"/>
                </a:solidFill>
              </a:rPr>
              <a:t>Challenges : 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DA89D-ACCD-6395-34B7-CEB66DFD2986}"/>
              </a:ext>
            </a:extLst>
          </p:cNvPr>
          <p:cNvSpPr txBox="1"/>
          <p:nvPr/>
        </p:nvSpPr>
        <p:spPr>
          <a:xfrm>
            <a:off x="546846" y="1715277"/>
            <a:ext cx="99934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Developed a strong understanding of connecting multiple tables using JOIN operations.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Built confidence in analyzing data and deriving meaningful business insights.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Gained hands-on experience in importing and managing large CSV datasets within databases.</a:t>
            </a:r>
            <a:endParaRPr lang="en-IN" sz="2400" dirty="0">
              <a:solidFill>
                <a:srgbClr val="E6E6E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6081CB-6505-F379-00DE-EAE345D7FAE7}"/>
              </a:ext>
            </a:extLst>
          </p:cNvPr>
          <p:cNvSpPr txBox="1"/>
          <p:nvPr/>
        </p:nvSpPr>
        <p:spPr>
          <a:xfrm>
            <a:off x="546846" y="4499927"/>
            <a:ext cx="111125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Experienced challenges in cleaning and aligning data across multiple tables.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E6E6E6"/>
                </a:solidFill>
                <a:latin typeface="+mj-lt"/>
                <a:ea typeface="+mj-ea"/>
                <a:cs typeface="+mj-cs"/>
              </a:rPr>
              <a:t>Faced difficulties in building complex SQL queries, but significantly improved through consistent practice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439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1FCA-0A2E-C82A-AB92-E2D52997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C329512-A98A-8736-68FB-F61322885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"/>
            <a:ext cx="12097870" cy="684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3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9CD493-A614-84CE-6C8B-F0158BEEB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561" y="0"/>
            <a:ext cx="12303561" cy="692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6943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2471</TotalTime>
  <Words>707</Words>
  <Application>Microsoft Office PowerPoint</Application>
  <PresentationFormat>Widescreen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Corbel</vt:lpstr>
      <vt:lpstr>Wingdings</vt:lpstr>
      <vt:lpstr>Depth</vt:lpstr>
      <vt:lpstr>Grocery Store Analysis  Using SQL</vt:lpstr>
      <vt:lpstr>Hii, I am Milind Suresh Bagad.  I completed my bachelors degree in computer Application (BCA).  I’m interested in Data Science because I love working with data, finding patterns, and solving real problems. I enjoy learning new things, improving my skills, and working on projects that make a difference.   Linkedin : https://www.linkedin.com/in/milind-bagad-82786a224   GitHub : https://github.com/Milind5  </vt:lpstr>
      <vt:lpstr>Objective of Project </vt:lpstr>
      <vt:lpstr>Entity Relationship Diagram (ERD)</vt:lpstr>
      <vt:lpstr>Data Insights &amp; Findings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Milind Bagad</dc:creator>
  <cp:lastModifiedBy>Milind Bagad</cp:lastModifiedBy>
  <cp:revision>14</cp:revision>
  <dcterms:created xsi:type="dcterms:W3CDTF">2025-10-30T14:18:57Z</dcterms:created>
  <dcterms:modified xsi:type="dcterms:W3CDTF">2025-11-07T18:38:31Z</dcterms:modified>
</cp:coreProperties>
</file>